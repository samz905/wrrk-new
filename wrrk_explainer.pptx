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486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ff319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1085850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8259" y="1173510"/>
            <a:ext cx="42748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3827246" y="2190750"/>
            <a:ext cx="1489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 err="1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wrrk.ai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284228" y="3152775"/>
            <a:ext cx="457539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18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SYSTEM FOR CUSTOMER TEAMS</a:t>
            </a:r>
            <a:endParaRPr lang="en-US" sz="1200" dirty="0"/>
          </a:p>
        </p:txBody>
      </p:sp>
      <p:pic>
        <p:nvPicPr>
          <p:cNvPr id="6" name="Image 1" descr="/tmp/rasterized-gradient-737e78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3470821"/>
            <a:ext cx="571500" cy="19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35068" y="3870871"/>
            <a:ext cx="10737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Explainer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584746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Teams Are Drowning in Tools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933575"/>
            <a:ext cx="2806005" cy="2089696"/>
          </a:xfrm>
          <a:prstGeom prst="roundRect">
            <a:avLst>
              <a:gd name="adj" fmla="val 4558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085975"/>
            <a:ext cx="25512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STACK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609600" y="2453580"/>
            <a:ext cx="555873" cy="247650"/>
          </a:xfrm>
          <a:prstGeom prst="roundRect">
            <a:avLst>
              <a:gd name="adj" fmla="val 15385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850" y="2510730"/>
            <a:ext cx="372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Zendesk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22623" y="2453580"/>
            <a:ext cx="423416" cy="247650"/>
          </a:xfrm>
          <a:prstGeom prst="roundRect">
            <a:avLst>
              <a:gd name="adj" fmla="val 15385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17873" y="2510730"/>
            <a:ext cx="237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703189" y="2453580"/>
            <a:ext cx="561082" cy="247650"/>
          </a:xfrm>
          <a:prstGeom prst="roundRect">
            <a:avLst>
              <a:gd name="adj" fmla="val 15385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98439" y="2510730"/>
            <a:ext cx="3779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321421" y="2453580"/>
            <a:ext cx="465832" cy="247650"/>
          </a:xfrm>
          <a:prstGeom prst="roundRect">
            <a:avLst>
              <a:gd name="adj" fmla="val 15385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16671" y="2510730"/>
            <a:ext cx="280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09600" y="2758380"/>
            <a:ext cx="561231" cy="247650"/>
          </a:xfrm>
          <a:prstGeom prst="roundRect">
            <a:avLst>
              <a:gd name="adj" fmla="val 15385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4850" y="2815530"/>
            <a:ext cx="3781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227981" y="2758380"/>
            <a:ext cx="460623" cy="247650"/>
          </a:xfrm>
          <a:prstGeom prst="roundRect">
            <a:avLst>
              <a:gd name="adj" fmla="val 15385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23231" y="2815530"/>
            <a:ext cx="2755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84588" y="3310830"/>
            <a:ext cx="255123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84588" y="3737521"/>
            <a:ext cx="2551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per agent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91805" y="1753493"/>
            <a:ext cx="5194995" cy="540990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506093" y="1753493"/>
            <a:ext cx="0" cy="54099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34680" y="1890564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60912" y="1867793"/>
            <a:ext cx="16457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Min Lost Per Escalation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60912" y="2046833"/>
            <a:ext cx="1645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Hunting for context across systems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91805" y="2389733"/>
            <a:ext cx="5194995" cy="540990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506093" y="2389733"/>
            <a:ext cx="0" cy="54099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34680" y="2526804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960912" y="2504033"/>
            <a:ext cx="16958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 of SaaS Licenses Unused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60912" y="2683073"/>
            <a:ext cx="16958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$21M wasted annually on subscriptions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91805" y="3025973"/>
            <a:ext cx="5194995" cy="540990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506093" y="3025973"/>
            <a:ext cx="0" cy="54099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34680" y="3163044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960912" y="3140273"/>
            <a:ext cx="15332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of Apps Are Shadow 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60912" y="3319314"/>
            <a:ext cx="1533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risks and data silos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91805" y="3662214"/>
            <a:ext cx="5194995" cy="540990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506093" y="3662214"/>
            <a:ext cx="0" cy="54099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34680" y="3799284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960912" y="3776514"/>
            <a:ext cx="17301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Repeat Themselves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960912" y="3955554"/>
            <a:ext cx="1730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view of interactions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584746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Everything Inside.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42387" y="2182118"/>
            <a:ext cx="151091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2345829"/>
            <a:ext cx="1481286" cy="304800"/>
          </a:xfrm>
          <a:prstGeom prst="roundRect">
            <a:avLst>
              <a:gd name="adj" fmla="val 12500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9827" y="2431554"/>
            <a:ext cx="13360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707779"/>
            <a:ext cx="1481286" cy="304800"/>
          </a:xfrm>
          <a:prstGeom prst="roundRect">
            <a:avLst>
              <a:gd name="adj" fmla="val 12500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9827" y="2793504"/>
            <a:ext cx="13360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3069729"/>
            <a:ext cx="1481286" cy="304800"/>
          </a:xfrm>
          <a:prstGeom prst="roundRect">
            <a:avLst>
              <a:gd name="adj" fmla="val 12500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9827" y="3155454"/>
            <a:ext cx="13360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3431679"/>
            <a:ext cx="1481286" cy="304800"/>
          </a:xfrm>
          <a:prstGeom prst="roundRect">
            <a:avLst>
              <a:gd name="adj" fmla="val 12500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9827" y="3517404"/>
            <a:ext cx="13360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120086" y="282594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pic>
        <p:nvPicPr>
          <p:cNvPr id="14" name="Image 0" descr="/tmp/rasterized-gradient-9a5e5c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145" y="2176463"/>
            <a:ext cx="3950196" cy="156582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629495" y="2309813"/>
            <a:ext cx="4965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wrrk.ai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55791" y="2344043"/>
            <a:ext cx="457200" cy="144661"/>
          </a:xfrm>
          <a:prstGeom prst="roundRect">
            <a:avLst>
              <a:gd name="adj" fmla="val 65844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931991" y="2363093"/>
            <a:ext cx="31089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629495" y="2770733"/>
            <a:ext cx="1813173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705695" y="2827883"/>
            <a:ext cx="1693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Inbox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490293" y="2770733"/>
            <a:ext cx="1813173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566493" y="2827883"/>
            <a:ext cx="1693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2629495" y="3066008"/>
            <a:ext cx="1813173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705695" y="3123158"/>
            <a:ext cx="1693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Messaging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490293" y="3066008"/>
            <a:ext cx="1813173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566493" y="3123158"/>
            <a:ext cx="1693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Tasks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629495" y="3361283"/>
            <a:ext cx="1813173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705695" y="3418433"/>
            <a:ext cx="1693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490293" y="3361283"/>
            <a:ext cx="1813173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566493" y="3418433"/>
            <a:ext cx="1693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627941" y="282594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989188" y="2151906"/>
            <a:ext cx="151091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7004000" y="2315617"/>
            <a:ext cx="1481286" cy="445591"/>
          </a:xfrm>
          <a:prstGeom prst="roundRect">
            <a:avLst>
              <a:gd name="adj" fmla="val 855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066912" y="2391817"/>
            <a:ext cx="13554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-97%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066912" y="2578447"/>
            <a:ext cx="13554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7004000" y="2818358"/>
            <a:ext cx="1481286" cy="445591"/>
          </a:xfrm>
          <a:prstGeom prst="roundRect">
            <a:avLst>
              <a:gd name="adj" fmla="val 855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7066912" y="2894558"/>
            <a:ext cx="13554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+133%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066912" y="3081189"/>
            <a:ext cx="13554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7004000" y="3321100"/>
            <a:ext cx="1481286" cy="445591"/>
          </a:xfrm>
          <a:prstGeom prst="roundRect">
            <a:avLst>
              <a:gd name="adj" fmla="val 855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7066912" y="3397300"/>
            <a:ext cx="13554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+19pts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066912" y="3583930"/>
            <a:ext cx="13554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01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584746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Inbox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723281"/>
            <a:ext cx="4019699" cy="2472184"/>
          </a:xfrm>
          <a:prstGeom prst="roundRect">
            <a:avLst>
              <a:gd name="adj" fmla="val 3082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732806"/>
            <a:ext cx="4000649" cy="319980"/>
          </a:xfrm>
          <a:prstGeom prst="rect">
            <a:avLst/>
          </a:prstGeom>
          <a:solidFill>
            <a:srgbClr val="0F0F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6725" y="2048024"/>
            <a:ext cx="4000649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1025" y="1814661"/>
            <a:ext cx="9087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Conversations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143375" y="1809006"/>
            <a:ext cx="209699" cy="158055"/>
          </a:xfrm>
          <a:prstGeom prst="roundRect">
            <a:avLst>
              <a:gd name="adj" fmla="val 48211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00525" y="1828056"/>
            <a:ext cx="973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42925" y="2281386"/>
            <a:ext cx="3848249" cy="571351"/>
          </a:xfrm>
          <a:prstGeom prst="roundRect">
            <a:avLst>
              <a:gd name="adj" fmla="val 6668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52450" y="2281386"/>
            <a:ext cx="0" cy="571351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8175" y="243363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1490" y="2500313"/>
            <a:ext cx="8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81075" y="2357586"/>
            <a:ext cx="34005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Chen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981075" y="2656582"/>
            <a:ext cx="34005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upgrade...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42925" y="2909888"/>
            <a:ext cx="3848249" cy="571351"/>
          </a:xfrm>
          <a:prstGeom prst="roundRect">
            <a:avLst>
              <a:gd name="adj" fmla="val 6668"/>
            </a:avLst>
          </a:prstGeom>
          <a:solidFill>
            <a:srgbClr val="2525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52450" y="2909888"/>
            <a:ext cx="0" cy="571351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8175" y="3062139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26430" y="3128814"/>
            <a:ext cx="918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81075" y="2986088"/>
            <a:ext cx="34005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 Johnson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81075" y="3285083"/>
            <a:ext cx="34005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tracking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542925" y="3538389"/>
            <a:ext cx="3848249" cy="571351"/>
          </a:xfrm>
          <a:prstGeom prst="roundRect">
            <a:avLst>
              <a:gd name="adj" fmla="val 6668"/>
            </a:avLst>
          </a:prstGeom>
          <a:solidFill>
            <a:srgbClr val="2525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52450" y="3538389"/>
            <a:ext cx="0" cy="571351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8175" y="369064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2143" y="3757315"/>
            <a:ext cx="1211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81075" y="3614589"/>
            <a:ext cx="34005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 Wilson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981075" y="3913584"/>
            <a:ext cx="34005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inquiry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67399" y="1696343"/>
            <a:ext cx="4019401" cy="560040"/>
          </a:xfrm>
          <a:prstGeom prst="roundRect">
            <a:avLst>
              <a:gd name="adj" fmla="val 10205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76924" y="1696343"/>
            <a:ext cx="0" cy="56004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749" y="1810643"/>
            <a:ext cx="38471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749" y="2008733"/>
            <a:ext cx="3847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SMS, WhatsApp, chat, voice—one stream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67399" y="2351633"/>
            <a:ext cx="4019401" cy="560040"/>
          </a:xfrm>
          <a:prstGeom prst="roundRect">
            <a:avLst>
              <a:gd name="adj" fmla="val 10205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76924" y="2351633"/>
            <a:ext cx="0" cy="56004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749" y="2465933"/>
            <a:ext cx="38471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Context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749" y="2664023"/>
            <a:ext cx="3847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customer history at a glance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67399" y="3006923"/>
            <a:ext cx="4019401" cy="560040"/>
          </a:xfrm>
          <a:prstGeom prst="roundRect">
            <a:avLst>
              <a:gd name="adj" fmla="val 10205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76924" y="3006923"/>
            <a:ext cx="0" cy="56004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749" y="3121223"/>
            <a:ext cx="38471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Priority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749" y="3319314"/>
            <a:ext cx="3847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sorts by urgency and customer value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67399" y="3662214"/>
            <a:ext cx="4019401" cy="560040"/>
          </a:xfrm>
          <a:prstGeom prst="roundRect">
            <a:avLst>
              <a:gd name="adj" fmla="val 10205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676924" y="3662214"/>
            <a:ext cx="0" cy="56004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749" y="3776514"/>
            <a:ext cx="38471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Handoffs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749" y="3974604"/>
            <a:ext cx="3847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without losing context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02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584746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Copilot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680270"/>
            <a:ext cx="4421535" cy="641896"/>
          </a:xfrm>
          <a:prstGeom prst="roundRect">
            <a:avLst>
              <a:gd name="adj" fmla="val 8903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/tmp/rasterized-gradient-47e5ec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848743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901" y="1921073"/>
            <a:ext cx="1619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62025" y="1785045"/>
            <a:ext cx="32179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Chen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2025" y="2097435"/>
            <a:ext cx="32179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• LTV $4,200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212134" y="1928813"/>
            <a:ext cx="561826" cy="144661"/>
          </a:xfrm>
          <a:prstGeom prst="roundRect">
            <a:avLst>
              <a:gd name="adj" fmla="val 2633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269284" y="1947863"/>
            <a:ext cx="45647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57200" y="2417415"/>
            <a:ext cx="4421535" cy="914400"/>
          </a:xfrm>
          <a:prstGeom prst="roundRect">
            <a:avLst>
              <a:gd name="adj" fmla="val 6250"/>
            </a:avLst>
          </a:prstGeom>
          <a:solidFill>
            <a:srgbClr val="F97316">
              <a:alpha val="10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61975" y="252219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02159" y="2538413"/>
            <a:ext cx="733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771525" y="2531715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Insight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61975" y="2750790"/>
            <a:ext cx="42962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Contacted 3x this week, same issue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61975" y="2922240"/>
            <a:ext cx="42962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Prior offer declined (1-month free)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61975" y="3093690"/>
            <a:ext cx="42962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Annual discount works 78% of time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57200" y="3427065"/>
            <a:ext cx="4421535" cy="811411"/>
          </a:xfrm>
          <a:prstGeom prst="roundRect">
            <a:avLst>
              <a:gd name="adj" fmla="val 7043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61975" y="3531840"/>
            <a:ext cx="42962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RESPONSE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561975" y="3708946"/>
            <a:ext cx="42962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 Sarah, given your 3-year loyalty, I'd like to offer 20% off your annual renewal."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61975" y="3918496"/>
            <a:ext cx="400199" cy="215205"/>
          </a:xfrm>
          <a:prstGeom prst="roundRect">
            <a:avLst>
              <a:gd name="adj" fmla="val 1770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57225" y="3966121"/>
            <a:ext cx="2138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1019324" y="3918496"/>
            <a:ext cx="338286" cy="215205"/>
          </a:xfrm>
          <a:prstGeom prst="roundRect">
            <a:avLst>
              <a:gd name="adj" fmla="val 17704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114574" y="3966121"/>
            <a:ext cx="1507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5069235" y="1422350"/>
            <a:ext cx="36899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LAYERS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5069235" y="1618506"/>
            <a:ext cx="3617565" cy="476101"/>
          </a:xfrm>
          <a:prstGeom prst="roundRect">
            <a:avLst>
              <a:gd name="adj" fmla="val 12004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5078760" y="1618506"/>
            <a:ext cx="0" cy="476101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183535" y="1713756"/>
            <a:ext cx="34761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Context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183535" y="1879402"/>
            <a:ext cx="34761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viewing now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5069235" y="2170807"/>
            <a:ext cx="3617565" cy="476101"/>
          </a:xfrm>
          <a:prstGeom prst="roundRect">
            <a:avLst>
              <a:gd name="adj" fmla="val 12004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078760" y="2170807"/>
            <a:ext cx="0" cy="476101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183535" y="2266057"/>
            <a:ext cx="34761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Context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183535" y="2431703"/>
            <a:ext cx="34761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decisions &amp; interactions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5069235" y="2723108"/>
            <a:ext cx="3617565" cy="476101"/>
          </a:xfrm>
          <a:prstGeom prst="roundRect">
            <a:avLst>
              <a:gd name="adj" fmla="val 12004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5078760" y="2723108"/>
            <a:ext cx="0" cy="476101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183535" y="2818358"/>
            <a:ext cx="34761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Context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5183535" y="2984004"/>
            <a:ext cx="34761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permissions &amp; workflows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5069235" y="3275409"/>
            <a:ext cx="3617565" cy="476101"/>
          </a:xfrm>
          <a:prstGeom prst="roundRect">
            <a:avLst>
              <a:gd name="adj" fmla="val 12004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6"/>
          <p:cNvSpPr/>
          <p:nvPr/>
        </p:nvSpPr>
        <p:spPr>
          <a:xfrm>
            <a:off x="5078760" y="3275409"/>
            <a:ext cx="0" cy="476101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183535" y="3370659"/>
            <a:ext cx="34761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Context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5183535" y="3536305"/>
            <a:ext cx="34761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&amp; knowledge base</a:t>
            </a:r>
            <a:endParaRPr lang="en-US" sz="675" dirty="0"/>
          </a:p>
        </p:txBody>
      </p:sp>
      <p:pic>
        <p:nvPicPr>
          <p:cNvPr id="42" name="Image 1" descr="/tmp/rasterized-gradient-5881fd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235" y="3827711"/>
            <a:ext cx="3617565" cy="668536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149645" y="3942011"/>
            <a:ext cx="34567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1800" dirty="0"/>
          </a:p>
        </p:txBody>
      </p:sp>
      <p:sp>
        <p:nvSpPr>
          <p:cNvPr id="44" name="Text 40"/>
          <p:cNvSpPr/>
          <p:nvPr/>
        </p:nvSpPr>
        <p:spPr>
          <a:xfrm>
            <a:off x="5149645" y="4261991"/>
            <a:ext cx="34567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handled by AI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03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584746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Messaging &amp; Smart Tasks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966912"/>
            <a:ext cx="39359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SUPPORT-TEAM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457200" y="2315468"/>
            <a:ext cx="3858816" cy="1097161"/>
          </a:xfrm>
          <a:prstGeom prst="roundRect">
            <a:avLst>
              <a:gd name="adj" fmla="val 6945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1975" y="2508796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3888" y="2563118"/>
            <a:ext cx="1068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866775" y="2420243"/>
            <a:ext cx="3411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Jake D.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6775" y="2705993"/>
            <a:ext cx="3411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handled Acme billing?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61975" y="2990701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3045023"/>
            <a:ext cx="1360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866775" y="2902148"/>
            <a:ext cx="3411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R.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66775" y="3187898"/>
            <a:ext cx="3411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Yes! Manual invoice done.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57200" y="3641229"/>
            <a:ext cx="3858816" cy="310455"/>
          </a:xfrm>
          <a:prstGeom prst="roundRect">
            <a:avLst>
              <a:gd name="adj" fmla="val 18408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6725" y="3641229"/>
            <a:ext cx="0" cy="310455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500" y="3736479"/>
            <a:ext cx="37222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message links to customer context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506516" y="1892796"/>
            <a:ext cx="4263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TASKS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506516" y="2241352"/>
            <a:ext cx="4180284" cy="1784449"/>
          </a:xfrm>
          <a:prstGeom prst="roundRect">
            <a:avLst>
              <a:gd name="adj" fmla="val 4270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11291" y="2346127"/>
            <a:ext cx="3970734" cy="474166"/>
          </a:xfrm>
          <a:prstGeom prst="roundRect">
            <a:avLst>
              <a:gd name="adj" fmla="val 803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06541" y="2447032"/>
            <a:ext cx="1052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up: Sarah Chen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224242" y="2441377"/>
            <a:ext cx="262533" cy="144661"/>
          </a:xfrm>
          <a:prstGeom prst="roundRect">
            <a:avLst>
              <a:gd name="adj" fmla="val 19753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81392" y="2460427"/>
            <a:ext cx="15119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2pm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706541" y="2605088"/>
            <a:ext cx="38558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Auto-created from conversation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11291" y="2896493"/>
            <a:ext cx="3970734" cy="474166"/>
          </a:xfrm>
          <a:prstGeom prst="roundRect">
            <a:avLst>
              <a:gd name="adj" fmla="val 803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6541" y="2997398"/>
            <a:ext cx="1225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Callback: Enterprise demo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4242" y="2991743"/>
            <a:ext cx="262533" cy="144661"/>
          </a:xfrm>
          <a:prstGeom prst="roundRect">
            <a:avLst>
              <a:gd name="adj" fmla="val 19753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281392" y="3010793"/>
            <a:ext cx="15119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4pm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706541" y="3155454"/>
            <a:ext cx="38558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from voice call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11291" y="3446859"/>
            <a:ext cx="3970734" cy="474166"/>
          </a:xfrm>
          <a:prstGeom prst="roundRect">
            <a:avLst>
              <a:gd name="adj" fmla="val 8035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6541" y="3547765"/>
            <a:ext cx="11122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5 tickets for QA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207276" y="3542109"/>
            <a:ext cx="279499" cy="144661"/>
          </a:xfrm>
          <a:prstGeom prst="roundRect">
            <a:avLst>
              <a:gd name="adj" fmla="val 19753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264426" y="3561159"/>
            <a:ext cx="1685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EOD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706541" y="3705820"/>
            <a:ext cx="38558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recurring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04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584746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Automation</a:t>
            </a:r>
            <a:endParaRPr lang="en-US" sz="2100" dirty="0"/>
          </a:p>
        </p:txBody>
      </p:sp>
      <p:pic>
        <p:nvPicPr>
          <p:cNvPr id="4" name="Image 0" descr="/tmp/rasterized-gradient-d8b51b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46945"/>
            <a:ext cx="4019550" cy="7447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0550" y="1947863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76275" y="1999357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8700" y="1880295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Agents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028700" y="2224980"/>
            <a:ext cx="33809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conversations, 24/7 availability</a:t>
            </a:r>
            <a:endParaRPr lang="en-US" sz="750" dirty="0"/>
          </a:p>
        </p:txBody>
      </p:sp>
      <p:pic>
        <p:nvPicPr>
          <p:cNvPr id="9" name="Image 1" descr="/tmp/rasterized-gradient-fec3c9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86930"/>
            <a:ext cx="4019550" cy="7447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0550" y="278784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54993" y="2839343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028700" y="2720280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Chatbots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1028700" y="3064966"/>
            <a:ext cx="33809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Intent-aware, multilingual support</a:t>
            </a:r>
            <a:endParaRPr lang="en-US" sz="750" dirty="0"/>
          </a:p>
        </p:txBody>
      </p:sp>
      <p:pic>
        <p:nvPicPr>
          <p:cNvPr id="14" name="Image 2" descr="/tmp/rasterized-gradient-403829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26916"/>
            <a:ext cx="4019550" cy="7447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0550" y="3627834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54993" y="3679329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028700" y="3560266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1028700" y="3904952"/>
            <a:ext cx="33809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Triggers, routing, notifications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4667250" y="1760190"/>
            <a:ext cx="409994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VOICE COLLECTION</a:t>
            </a:r>
            <a:endParaRPr lang="en-US" sz="675" dirty="0"/>
          </a:p>
        </p:txBody>
      </p:sp>
      <p:sp>
        <p:nvSpPr>
          <p:cNvPr id="20" name="Text 15"/>
          <p:cNvSpPr/>
          <p:nvPr/>
        </p:nvSpPr>
        <p:spPr>
          <a:xfrm>
            <a:off x="4667250" y="2127796"/>
            <a:ext cx="4019550" cy="1123950"/>
          </a:xfrm>
          <a:prstGeom prst="roundRect">
            <a:avLst>
              <a:gd name="adj" fmla="val 6780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791075" y="225162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878884" y="2299246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5114925" y="2299246"/>
            <a:ext cx="13610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calls about overdue payment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4905375" y="2480221"/>
            <a:ext cx="9525" cy="95250"/>
          </a:xfrm>
          <a:prstGeom prst="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791075" y="257547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878884" y="2623096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5114925" y="2623096"/>
            <a:ext cx="12511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objection, offers plan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4905375" y="2804071"/>
            <a:ext cx="9525" cy="95250"/>
          </a:xfrm>
          <a:prstGeom prst="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4791075" y="289932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878884" y="2946946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5114925" y="2946946"/>
            <a:ext cx="11878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CRM, creates task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4667250" y="3518446"/>
            <a:ext cx="1276350" cy="639961"/>
          </a:xfrm>
          <a:prstGeom prst="roundRect">
            <a:avLst>
              <a:gd name="adj" fmla="val 8930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780788" y="3642271"/>
            <a:ext cx="1049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4780788" y="3928021"/>
            <a:ext cx="104927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handled</a:t>
            </a:r>
            <a:endParaRPr lang="en-US" sz="600" dirty="0"/>
          </a:p>
        </p:txBody>
      </p:sp>
      <p:sp>
        <p:nvSpPr>
          <p:cNvPr id="35" name="Text 30"/>
          <p:cNvSpPr/>
          <p:nvPr/>
        </p:nvSpPr>
        <p:spPr>
          <a:xfrm>
            <a:off x="6038850" y="3518446"/>
            <a:ext cx="1276350" cy="639961"/>
          </a:xfrm>
          <a:prstGeom prst="roundRect">
            <a:avLst>
              <a:gd name="adj" fmla="val 8930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6152388" y="3642271"/>
            <a:ext cx="1049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-62%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6152388" y="3928021"/>
            <a:ext cx="104927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Cost/call</a:t>
            </a:r>
            <a:endParaRPr lang="en-US" sz="600" dirty="0"/>
          </a:p>
        </p:txBody>
      </p:sp>
      <p:sp>
        <p:nvSpPr>
          <p:cNvPr id="38" name="Text 33"/>
          <p:cNvSpPr/>
          <p:nvPr/>
        </p:nvSpPr>
        <p:spPr>
          <a:xfrm>
            <a:off x="7410450" y="3518446"/>
            <a:ext cx="1276350" cy="639961"/>
          </a:xfrm>
          <a:prstGeom prst="roundRect">
            <a:avLst>
              <a:gd name="adj" fmla="val 8930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7523988" y="3642271"/>
            <a:ext cx="1049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1500" dirty="0"/>
          </a:p>
        </p:txBody>
      </p:sp>
      <p:sp>
        <p:nvSpPr>
          <p:cNvPr id="40" name="Text 35"/>
          <p:cNvSpPr/>
          <p:nvPr/>
        </p:nvSpPr>
        <p:spPr>
          <a:xfrm>
            <a:off x="7523988" y="3928021"/>
            <a:ext cx="104927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05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584746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Source of Truth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782366"/>
            <a:ext cx="4823668" cy="2354014"/>
          </a:xfrm>
          <a:prstGeom prst="roundRect">
            <a:avLst>
              <a:gd name="adj" fmla="val 3237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791891"/>
            <a:ext cx="4804618" cy="308521"/>
          </a:xfrm>
          <a:prstGeom prst="rect">
            <a:avLst/>
          </a:prstGeom>
          <a:solidFill>
            <a:srgbClr val="0F0F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6725" y="2095649"/>
            <a:ext cx="4804618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1025" y="1868091"/>
            <a:ext cx="558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902845" y="1868984"/>
            <a:ext cx="254198" cy="144661"/>
          </a:xfrm>
          <a:prstGeom prst="roundRect">
            <a:avLst>
              <a:gd name="adj" fmla="val 39506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9995" y="1888034"/>
            <a:ext cx="14269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61975" y="2348061"/>
            <a:ext cx="1096417" cy="740866"/>
          </a:xfrm>
          <a:prstGeom prst="roundRect">
            <a:avLst>
              <a:gd name="adj" fmla="val 771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7225" y="2443311"/>
            <a:ext cx="92403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57225" y="2587972"/>
            <a:ext cx="924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7225" y="2873722"/>
            <a:ext cx="9240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12%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734592" y="2348061"/>
            <a:ext cx="1096417" cy="740866"/>
          </a:xfrm>
          <a:prstGeom prst="roundRect">
            <a:avLst>
              <a:gd name="adj" fmla="val 771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29842" y="2443311"/>
            <a:ext cx="92403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RESPONSE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829842" y="2587972"/>
            <a:ext cx="924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9842" y="2873722"/>
            <a:ext cx="9240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38%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907209" y="2348061"/>
            <a:ext cx="1096417" cy="740866"/>
          </a:xfrm>
          <a:prstGeom prst="roundRect">
            <a:avLst>
              <a:gd name="adj" fmla="val 771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02459" y="2443311"/>
            <a:ext cx="92403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002459" y="2587972"/>
            <a:ext cx="924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002459" y="2873722"/>
            <a:ext cx="9240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8pts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079825" y="2348061"/>
            <a:ext cx="1096417" cy="740866"/>
          </a:xfrm>
          <a:prstGeom prst="roundRect">
            <a:avLst>
              <a:gd name="adj" fmla="val 771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175075" y="2443311"/>
            <a:ext cx="92403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RATE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175075" y="2587972"/>
            <a:ext cx="924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75075" y="2873722"/>
            <a:ext cx="9240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15%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561975" y="3184178"/>
            <a:ext cx="4614118" cy="847427"/>
          </a:xfrm>
          <a:prstGeom prst="roundRect">
            <a:avLst>
              <a:gd name="adj" fmla="val 6744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7225" y="3279428"/>
            <a:ext cx="451209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VOLUME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57225" y="3462189"/>
            <a:ext cx="4857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1209675" y="3465016"/>
            <a:ext cx="3623370" cy="11430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09675" y="3465016"/>
            <a:ext cx="1521768" cy="1143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09245" y="3462189"/>
            <a:ext cx="1750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657225" y="3639294"/>
            <a:ext cx="4857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1209675" y="3642122"/>
            <a:ext cx="3623370" cy="11430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209675" y="3642122"/>
            <a:ext cx="1014413" cy="114300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09245" y="3639294"/>
            <a:ext cx="1750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657225" y="3816400"/>
            <a:ext cx="4857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1209675" y="3819227"/>
            <a:ext cx="3623370" cy="114300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09675" y="3819227"/>
            <a:ext cx="652165" cy="11430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09245" y="3816400"/>
            <a:ext cx="1750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5471368" y="1749921"/>
            <a:ext cx="3215432" cy="533251"/>
          </a:xfrm>
          <a:prstGeom prst="roundRect">
            <a:avLst>
              <a:gd name="adj" fmla="val 10717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480893" y="1749921"/>
            <a:ext cx="0" cy="533251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04718" y="1864221"/>
            <a:ext cx="30271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Cross-Channel View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5604718" y="2048917"/>
            <a:ext cx="30271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channels in one dashboard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5471368" y="2378422"/>
            <a:ext cx="3215432" cy="533251"/>
          </a:xfrm>
          <a:prstGeom prst="roundRect">
            <a:avLst>
              <a:gd name="adj" fmla="val 10717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480893" y="2378422"/>
            <a:ext cx="0" cy="533251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604718" y="2492722"/>
            <a:ext cx="30271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Updates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5604718" y="2677418"/>
            <a:ext cx="30271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metrics, not stale reports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5471368" y="3006923"/>
            <a:ext cx="3215432" cy="533251"/>
          </a:xfrm>
          <a:prstGeom prst="roundRect">
            <a:avLst>
              <a:gd name="adj" fmla="val 10717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480893" y="3006923"/>
            <a:ext cx="0" cy="533251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604718" y="3121223"/>
            <a:ext cx="30271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Insights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5604718" y="3305919"/>
            <a:ext cx="30271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trend detection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5471368" y="3635425"/>
            <a:ext cx="3215432" cy="533251"/>
          </a:xfrm>
          <a:prstGeom prst="roundRect">
            <a:avLst>
              <a:gd name="adj" fmla="val 10717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480893" y="3635425"/>
            <a:ext cx="0" cy="533251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604718" y="3749725"/>
            <a:ext cx="30271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Reports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5604718" y="3934420"/>
            <a:ext cx="30271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exactly what you need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584746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Your Industry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2069902"/>
            <a:ext cx="1554510" cy="1778943"/>
          </a:xfrm>
          <a:prstGeom prst="roundRect">
            <a:avLst>
              <a:gd name="adj" fmla="val 4902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2084189"/>
            <a:ext cx="1554510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0550" y="2231827"/>
            <a:ext cx="131356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0550" y="2700338"/>
            <a:ext cx="13135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0550" y="3069878"/>
            <a:ext cx="13135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returns, tracking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90550" y="3437483"/>
            <a:ext cx="3937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1678186" y="3437483"/>
            <a:ext cx="2041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-97%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90550" y="3595539"/>
            <a:ext cx="4520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1608981" y="3595539"/>
            <a:ext cx="2747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+133%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126010" y="2069902"/>
            <a:ext cx="1554510" cy="1778943"/>
          </a:xfrm>
          <a:prstGeom prst="roundRect">
            <a:avLst>
              <a:gd name="adj" fmla="val 4902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26010" y="2084189"/>
            <a:ext cx="1554510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59360" y="2231827"/>
            <a:ext cx="131356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259360" y="2700338"/>
            <a:ext cx="13135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59360" y="3069878"/>
            <a:ext cx="13135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Appointments, reminders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259360" y="3437483"/>
            <a:ext cx="3887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346996" y="3437483"/>
            <a:ext cx="2041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-59%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259360" y="3595539"/>
            <a:ext cx="43734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time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346996" y="3595539"/>
            <a:ext cx="2041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-87%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794820" y="2069902"/>
            <a:ext cx="1554510" cy="1778943"/>
          </a:xfrm>
          <a:prstGeom prst="roundRect">
            <a:avLst>
              <a:gd name="adj" fmla="val 4902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794820" y="2084189"/>
            <a:ext cx="155451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28170" y="2231827"/>
            <a:ext cx="131356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928170" y="2700338"/>
            <a:ext cx="13135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28170" y="3069878"/>
            <a:ext cx="13135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Collections, compliance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928170" y="3437483"/>
            <a:ext cx="36934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994225" y="3437483"/>
            <a:ext cx="2261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928170" y="3595539"/>
            <a:ext cx="1798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5015805" y="3595539"/>
            <a:ext cx="2041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-62%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5463629" y="2069902"/>
            <a:ext cx="1554510" cy="1778943"/>
          </a:xfrm>
          <a:prstGeom prst="roundRect">
            <a:avLst>
              <a:gd name="adj" fmla="val 4902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463629" y="2084189"/>
            <a:ext cx="1554510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96979" y="2231827"/>
            <a:ext cx="131356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596979" y="2700338"/>
            <a:ext cx="13135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96979" y="3069878"/>
            <a:ext cx="13135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Leads, showings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5596979" y="3437483"/>
            <a:ext cx="3937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6715571" y="3437483"/>
            <a:ext cx="1726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&lt;2m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5596979" y="3595539"/>
            <a:ext cx="4423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663035" y="3595539"/>
            <a:ext cx="2261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7132439" y="2069902"/>
            <a:ext cx="1554510" cy="1778943"/>
          </a:xfrm>
          <a:prstGeom prst="roundRect">
            <a:avLst>
              <a:gd name="adj" fmla="val 4902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7132439" y="2084189"/>
            <a:ext cx="1554510" cy="0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65789" y="2231827"/>
            <a:ext cx="131356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265789" y="2700338"/>
            <a:ext cx="13135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65789" y="3069878"/>
            <a:ext cx="13135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Enrollment, support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7265789" y="3437483"/>
            <a:ext cx="2770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8331845" y="3437483"/>
            <a:ext cx="2261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7265789" y="3595539"/>
            <a:ext cx="1798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8293745" y="3595539"/>
            <a:ext cx="2650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+22pts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8594" y="381000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Transformation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1668066"/>
            <a:ext cx="3686175" cy="363736"/>
          </a:xfrm>
          <a:prstGeom prst="roundRect">
            <a:avLst>
              <a:gd name="adj" fmla="val 15712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7493" y="1763316"/>
            <a:ext cx="35655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57200" y="2298502"/>
            <a:ext cx="3686175" cy="1786533"/>
          </a:xfrm>
          <a:prstGeom prst="roundRect">
            <a:avLst>
              <a:gd name="adj" fmla="val 4265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0075" y="2441377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1715" y="2461320"/>
            <a:ext cx="1069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disconnected tools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00075" y="2704207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1715" y="2724150"/>
            <a:ext cx="1229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min context hunting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00075" y="2967038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1715" y="2986980"/>
            <a:ext cx="14196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repeat themselves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0075" y="3229868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1715" y="3249811"/>
            <a:ext cx="796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assistance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00075" y="3492698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1715" y="3512641"/>
            <a:ext cx="9861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task creation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00075" y="3755529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1715" y="3775472"/>
            <a:ext cx="9565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dashboards</a:t>
            </a:r>
            <a:endParaRPr lang="en-US" sz="825" dirty="0"/>
          </a:p>
        </p:txBody>
      </p:sp>
      <p:pic>
        <p:nvPicPr>
          <p:cNvPr id="18" name="Image 0" descr="/tmp/rasterized-gradient-327ce5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686050"/>
            <a:ext cx="381000" cy="381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484561" y="275659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00625" y="1668066"/>
            <a:ext cx="3686175" cy="363736"/>
          </a:xfrm>
          <a:prstGeom prst="roundRect">
            <a:avLst>
              <a:gd name="adj" fmla="val 1571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060918" y="1763316"/>
            <a:ext cx="35655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000625" y="2298502"/>
            <a:ext cx="3686175" cy="1786533"/>
          </a:xfrm>
          <a:prstGeom prst="roundRect">
            <a:avLst>
              <a:gd name="adj" fmla="val 4265"/>
            </a:avLst>
          </a:prstGeom>
          <a:solidFill>
            <a:srgbClr val="10B981">
              <a:alpha val="8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143500" y="2441377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05140" y="2461320"/>
            <a:ext cx="8198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unified platform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143500" y="2704207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05140" y="2724150"/>
            <a:ext cx="13009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context from Copilot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5143500" y="2967038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05140" y="2986980"/>
            <a:ext cx="1271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customer history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143500" y="3229868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05140" y="3249811"/>
            <a:ext cx="12832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suggestions everywhere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5143500" y="3492698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405140" y="3512641"/>
            <a:ext cx="11880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Auto-created smart tasks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143500" y="3755529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405140" y="3775472"/>
            <a:ext cx="10099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WRRK.AI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57200" y="584746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Us Different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372046"/>
            <a:ext cx="2667000" cy="1314301"/>
          </a:xfrm>
          <a:prstGeom prst="roundRect">
            <a:avLst>
              <a:gd name="adj" fmla="val 5798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386334"/>
            <a:ext cx="2667000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0550" y="1533971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0550" y="2082552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0550" y="2433042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sees your screen, knows history, understands role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238500" y="1372046"/>
            <a:ext cx="2667000" cy="1314301"/>
          </a:xfrm>
          <a:prstGeom prst="roundRect">
            <a:avLst>
              <a:gd name="adj" fmla="val 5798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8500" y="1386334"/>
            <a:ext cx="266700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71850" y="1533971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71850" y="2082552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Unification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71850" y="2433042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aggregation—deep integration. Everything connects.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019800" y="1372046"/>
            <a:ext cx="2667000" cy="1314301"/>
          </a:xfrm>
          <a:prstGeom prst="roundRect">
            <a:avLst>
              <a:gd name="adj" fmla="val 5798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19800" y="1386334"/>
            <a:ext cx="2667000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53150" y="1533971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53150" y="2082552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Automation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150" y="2433042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AI, chatbots, workflows included. No extra vendors.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57200" y="3232398"/>
            <a:ext cx="2667000" cy="1314301"/>
          </a:xfrm>
          <a:prstGeom prst="roundRect">
            <a:avLst>
              <a:gd name="adj" fmla="val 5798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7200" y="3246686"/>
            <a:ext cx="2667000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0550" y="3394323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0550" y="3942904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Pricing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0550" y="4293394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monthly tiers. Scale without budget surprises.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238500" y="3232398"/>
            <a:ext cx="2667000" cy="1314301"/>
          </a:xfrm>
          <a:prstGeom prst="roundRect">
            <a:avLst>
              <a:gd name="adj" fmla="val 5798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38500" y="3246686"/>
            <a:ext cx="2667000" cy="0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71850" y="3394323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71850" y="3942904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Go-Live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71850" y="4293394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onboarding. Migrate in weeks, not quarters.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6019800" y="3232398"/>
            <a:ext cx="2667000" cy="1314301"/>
          </a:xfrm>
          <a:prstGeom prst="roundRect">
            <a:avLst>
              <a:gd name="adj" fmla="val 5798"/>
            </a:avLst>
          </a:prstGeom>
          <a:solidFill>
            <a:srgbClr val="1F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19800" y="3246686"/>
            <a:ext cx="2667000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53150" y="3394323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53150" y="3942904"/>
            <a:ext cx="2448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53150" y="4293394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2, HIPAA, GDPR, PCI-DSS. Compliance built in.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84a06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490686"/>
            <a:ext cx="666750" cy="666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77690" y="557361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975472" y="1462236"/>
            <a:ext cx="31929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8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Transform?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476792" y="2159997"/>
            <a:ext cx="41904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18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Complete automation. Human when it matters.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187730" y="2614645"/>
            <a:ext cx="103893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-97%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537971" y="3098468"/>
            <a:ext cx="437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Rate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423940" y="2759422"/>
            <a:ext cx="9525" cy="342900"/>
          </a:xfrm>
          <a:prstGeom prst="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55046" y="2628007"/>
            <a:ext cx="9623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761917" y="3100388"/>
            <a:ext cx="502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592538" y="2759422"/>
            <a:ext cx="9525" cy="342900"/>
          </a:xfrm>
          <a:prstGeom prst="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24151" y="2628007"/>
            <a:ext cx="8614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+19pts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905375" y="3121239"/>
            <a:ext cx="509402" cy="110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710386" y="2759422"/>
            <a:ext cx="9525" cy="342900"/>
          </a:xfrm>
          <a:prstGeom prst="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943177" y="2628007"/>
            <a:ext cx="72403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-86%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963976" y="3100388"/>
            <a:ext cx="502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Sprawl</a:t>
            </a:r>
            <a:endParaRPr lang="en-US" sz="750" dirty="0"/>
          </a:p>
        </p:txBody>
      </p:sp>
      <p:pic>
        <p:nvPicPr>
          <p:cNvPr id="17" name="Image 1" descr="/tmp/rasterized-gradient-3cf58f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704" y="3662362"/>
            <a:ext cx="1400621" cy="4018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62731" y="3776662"/>
            <a:ext cx="8845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4619625" y="3652838"/>
            <a:ext cx="1419523" cy="420886"/>
          </a:xfrm>
          <a:prstGeom prst="roundRect">
            <a:avLst>
              <a:gd name="adj" fmla="val 18105"/>
            </a:avLst>
          </a:prstGeom>
          <a:solidFill>
            <a:srgbClr val="1F1F2E"/>
          </a:solidFill>
          <a:ln w="9525">
            <a:solidFill>
              <a:srgbClr val="3741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887179" y="3776662"/>
            <a:ext cx="8844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8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Demo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4260954" y="4492823"/>
            <a:ext cx="6219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21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www.wrrk.ai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740</Words>
  <Application>Microsoft Macintosh PowerPoint</Application>
  <PresentationFormat>On-screen Show (16:9)</PresentationFormat>
  <Paragraphs>284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wrrk.ai Product Explainer</dc:title>
  <dc:subject>PptxGenJS Presentation</dc:subject>
  <dc:creator>wrrk.ai</dc:creator>
  <cp:lastModifiedBy>Nitya Prakhar</cp:lastModifiedBy>
  <cp:revision>2</cp:revision>
  <dcterms:created xsi:type="dcterms:W3CDTF">2025-12-31T20:44:28Z</dcterms:created>
  <dcterms:modified xsi:type="dcterms:W3CDTF">2025-12-31T21:00:13Z</dcterms:modified>
</cp:coreProperties>
</file>